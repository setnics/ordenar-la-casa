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cc8bb7321d4189" /><Relationship Type="http://schemas.openxmlformats.org/officeDocument/2006/relationships/extended-properties" Target="/docProps/app.xml" Id="Ra2ef3d31dc5449cf" /><Relationship Type="http://schemas.openxmlformats.org/officeDocument/2006/relationships/officeDocument" Target="/ppt/presentation.xml" Id="R908f8307c35d49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8a62bdd2bf4e23"/>
  </p:sldMasterIdLst>
  <p:notesMasterIdLst>
    <p:notesMasterId xmlns:r="http://schemas.openxmlformats.org/officeDocument/2006/relationships" r:id="Ra822f270724d47ce"/>
  </p:notesMasterIdLst>
  <p:sldIdLst>
    <p:sldId xmlns:r="http://schemas.openxmlformats.org/officeDocument/2006/relationships" id="256" r:id="R43473a7eda4442af"/>
    <p:sldId xmlns:r="http://schemas.openxmlformats.org/officeDocument/2006/relationships" id="257" r:id="R89886656a9bc46f2"/>
    <p:sldId xmlns:r="http://schemas.openxmlformats.org/officeDocument/2006/relationships" id="258" r:id="R7ab697398daf4987"/>
    <p:sldId xmlns:r="http://schemas.openxmlformats.org/officeDocument/2006/relationships" id="259" r:id="R20263d109b594734"/>
    <p:sldId xmlns:r="http://schemas.openxmlformats.org/officeDocument/2006/relationships" id="260" r:id="R3282ddf622ca4b0c"/>
    <p:sldId xmlns:r="http://schemas.openxmlformats.org/officeDocument/2006/relationships" id="261" r:id="Rfc4765016c434721"/>
    <p:sldId xmlns:r="http://schemas.openxmlformats.org/officeDocument/2006/relationships" id="262" r:id="Rb92d40f701e74861"/>
    <p:sldId xmlns:r="http://schemas.openxmlformats.org/officeDocument/2006/relationships" id="263" r:id="Rde2dfc092bef4c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a62bdd2bf4e23" /><Relationship Type="http://schemas.openxmlformats.org/officeDocument/2006/relationships/theme" Target="/ppt/theme/theme1.xml" Id="R954e34ff76534216" /><Relationship Type="http://schemas.openxmlformats.org/officeDocument/2006/relationships/notesMaster" Target="/ppt/notesMasters/notesMaster1.xml" Id="Ra822f270724d47ce" /><Relationship Type="http://schemas.openxmlformats.org/officeDocument/2006/relationships/presProps" Target="/ppt/presProps.xml" Id="Ra872d92656ef4007" /><Relationship Type="http://schemas.openxmlformats.org/officeDocument/2006/relationships/viewProps" Target="/ppt/viewProps.xml" Id="R06335664308f4516" /><Relationship Type="http://schemas.openxmlformats.org/officeDocument/2006/relationships/tableStyles" Target="/ppt/tableStyles.xml" Id="R08a3e05f7d644b52" /><Relationship Type="http://schemas.openxmlformats.org/officeDocument/2006/relationships/slide" Target="/ppt/slides/slide1.xml" Id="R43473a7eda4442af" /><Relationship Type="http://schemas.openxmlformats.org/officeDocument/2006/relationships/slide" Target="/ppt/slides/slide2.xml" Id="R89886656a9bc46f2" /><Relationship Type="http://schemas.openxmlformats.org/officeDocument/2006/relationships/slide" Target="/ppt/slides/slide3.xml" Id="R7ab697398daf4987" /><Relationship Type="http://schemas.openxmlformats.org/officeDocument/2006/relationships/slide" Target="/ppt/slides/slide4.xml" Id="R20263d109b594734" /><Relationship Type="http://schemas.openxmlformats.org/officeDocument/2006/relationships/slide" Target="/ppt/slides/slide5.xml" Id="R3282ddf622ca4b0c" /><Relationship Type="http://schemas.openxmlformats.org/officeDocument/2006/relationships/slide" Target="/ppt/slides/slide6.xml" Id="Rfc4765016c434721" /><Relationship Type="http://schemas.openxmlformats.org/officeDocument/2006/relationships/slide" Target="/ppt/slides/slide7.xml" Id="Rb92d40f701e74861" /><Relationship Type="http://schemas.openxmlformats.org/officeDocument/2006/relationships/slide" Target="/ppt/slides/slide8.xml" Id="Rde2dfc092bef4c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c63032f90047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7e291aaa4446c8" /><Relationship Type="http://schemas.openxmlformats.org/officeDocument/2006/relationships/notesMaster" Target="/ppt/notesMasters/notesMaster1.xml" Id="R27a04ecebccd44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47c99c66de4261" /><Relationship Type="http://schemas.openxmlformats.org/officeDocument/2006/relationships/notesMaster" Target="/ppt/notesMasters/notesMaster1.xml" Id="Rf48e5b28dfad44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b0e61ea3d4b2c" /><Relationship Type="http://schemas.openxmlformats.org/officeDocument/2006/relationships/notesMaster" Target="/ppt/notesMasters/notesMaster1.xml" Id="Rb713b66193ad47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17ad92fb3342f5" /><Relationship Type="http://schemas.openxmlformats.org/officeDocument/2006/relationships/notesMaster" Target="/ppt/notesMasters/notesMaster1.xml" Id="R067f78b9478742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9bd4fd6bfe4a16" /><Relationship Type="http://schemas.openxmlformats.org/officeDocument/2006/relationships/notesMaster" Target="/ppt/notesMasters/notesMaster1.xml" Id="R72398be3023f42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063392732841c1" /><Relationship Type="http://schemas.openxmlformats.org/officeDocument/2006/relationships/notesMaster" Target="/ppt/notesMasters/notesMaster1.xml" Id="Re8a9d32119c745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d77d76ab7440ca" /><Relationship Type="http://schemas.openxmlformats.org/officeDocument/2006/relationships/notesMaster" Target="/ppt/notesMasters/notesMaster1.xml" Id="Rfdd94982721d48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ebc345341445e9" /><Relationship Type="http://schemas.openxmlformats.org/officeDocument/2006/relationships/notesMaster" Target="/ppt/notesMasters/notesMaster1.xml" Id="R74547807eda948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84c976a79492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a52c17b7bf34dc5" /><Relationship Type="http://schemas.openxmlformats.org/officeDocument/2006/relationships/slideLayout" Target="/ppt/slideLayouts/slideLayout2.xml" Id="Rd886f771f2ef43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86f771f2ef43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fd7173d7f54e78" /><Relationship Type="http://schemas.openxmlformats.org/officeDocument/2006/relationships/notesSlide" Target="/ppt/notesSlides/notesSlide1.xml" Id="Rccb754f5bb9e4e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ea0f0477bc459e" /><Relationship Type="http://schemas.openxmlformats.org/officeDocument/2006/relationships/notesSlide" Target="/ppt/notesSlides/notesSlide2.xml" Id="R2000ea26acce4d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c412ba0ce84344" /><Relationship Type="http://schemas.openxmlformats.org/officeDocument/2006/relationships/notesSlide" Target="/ppt/notesSlides/notesSlide3.xml" Id="Rf4318b43c48b4f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d22be185384536" /><Relationship Type="http://schemas.openxmlformats.org/officeDocument/2006/relationships/notesSlide" Target="/ppt/notesSlides/notesSlide4.xml" Id="Ra5264112d24d4c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1a5e54efda473c" /><Relationship Type="http://schemas.openxmlformats.org/officeDocument/2006/relationships/notesSlide" Target="/ppt/notesSlides/notesSlide5.xml" Id="R66cdf7ffc37b44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88c9f32a9e44a1" /><Relationship Type="http://schemas.openxmlformats.org/officeDocument/2006/relationships/notesSlide" Target="/ppt/notesSlides/notesSlide6.xml" Id="Rb6ad58e223a44e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cfb5e7a66f40d3" /><Relationship Type="http://schemas.openxmlformats.org/officeDocument/2006/relationships/notesSlide" Target="/ppt/notesSlides/notesSlide7.xml" Id="R259d4841864b47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0072c6eea64c1c" /><Relationship Type="http://schemas.openxmlformats.org/officeDocument/2006/relationships/notesSlide" Target="/ppt/notesSlides/notesSlide8.xml" Id="R5d40018c1c9f47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D7B1E0-DC46-4E32-8FA7-EB6AB3F5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A2992B8C-5ED6-4058-91B4-1DF869FF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5C624EB1-4284-47FB-ADD9-698ED615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DDC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8DDCB"/>
                </a:solidFill>
                <a:latin typeface="Aptos"/>
                <a:ea typeface="Aptos"/>
                <a:cs typeface="Aptos"/>
              </a:rPr>
              <a:t>SINTESIS DEL MODELO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7C106-F4E0-4489-B24D-755E1D6C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8DDC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E8DDC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EF836-F5CE-4FD7-BF77-D8E65396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715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1E7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8F1E7"/>
                </a:solidFill>
                <a:latin typeface="Georgia"/>
                <a:ea typeface="Georgia"/>
                <a:cs typeface="Georgia"/>
              </a:rPr>
              <a:t>Herramienta Excel</a:t>
            </a:r>
          </a:p>
          <a:p xmlns:a="http://schemas.openxmlformats.org/drawingml/2006/main">
            <a:pPr algn="l">
              <a:defRPr sz="3450" b="1">
                <a:solidFill>
                  <a:srgbClr val="F8F1E7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8F1E7"/>
                </a:solidFill>
                <a:latin typeface="Georgia"/>
                <a:ea typeface="Georgia"/>
                <a:cs typeface="Georgia"/>
              </a:rPr>
              <a:t>CT-VEC-IP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31E28-90A7-43DB-9DC2-038DDFB8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6"/>
                </a:solidFill>
                <a:latin typeface="Aptos"/>
                <a:ea typeface="Aptos"/>
                <a:cs typeface="Aptos"/>
              </a:rPr>
              <a:t>Criterios, ecuaciones y parametros para evaluar, priorizar y gestionar oportunidades de cotizacion en ingenieria.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5E8B3-F349-433C-9FD0-F5B3E123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A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44C56-08B2-4335-A1BA-7B255887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115F3-E340-4971-9F26-C2358F89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6E8FA-041C-441D-89EB-789364F0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1E7"/>
                </a:solidFill>
                <a:latin typeface="Aptos"/>
                <a:ea typeface="Aptos"/>
                <a:cs typeface="Aptos"/>
              </a:rPr>
              <a:t>Complejidad tecnica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695AA-B2AB-44A5-AAF0-153D22B2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8C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8C0"/>
                </a:solidFill>
                <a:latin typeface="Aptos"/>
                <a:ea typeface="Aptos"/>
                <a:cs typeface="Aptos"/>
              </a:rPr>
              <a:t>Que tan complejo es cotizar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B3336-DD2F-41C7-A415-F5F70BE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5A814-333E-4E8E-AE1D-41929E6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815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BED16-0981-428D-B76C-DC8C04BE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1E7"/>
                </a:solidFill>
                <a:latin typeface="Aptos"/>
                <a:ea typeface="Aptos"/>
                <a:cs typeface="Aptos"/>
              </a:rPr>
              <a:t>Valor esperado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B5521-84BB-467A-BF63-6031D6A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8C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8C0"/>
                </a:solidFill>
                <a:latin typeface="Aptos"/>
                <a:ea typeface="Aptos"/>
                <a:cs typeface="Aptos"/>
              </a:rPr>
              <a:t>Conviene cotizar desde valor esperado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C4423-4B24-43C1-BCF8-2AF16173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8403D-7E2C-4258-AB44-2D8CBC1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BC282-CCDF-468C-94E2-EB2A7F46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1E7"/>
                </a:solidFill>
                <a:latin typeface="Aptos"/>
                <a:ea typeface="Aptos"/>
                <a:cs typeface="Aptos"/>
              </a:rPr>
              <a:t>Prioridad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2CA3E-04E1-481D-870B-67E21A92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8C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8C0"/>
                </a:solidFill>
                <a:latin typeface="Aptos"/>
                <a:ea typeface="Aptos"/>
                <a:cs typeface="Aptos"/>
              </a:rPr>
              <a:t>Que oportunidad se cotiza primero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FB45F-7AC1-4926-A0F6-A182E1C4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20015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D7451-800B-402B-9DC4-45E0DF5D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Decision final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F2EEF-0BF2-4BB7-B526-65F734F0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BID</a:t>
            </a:r>
          </a:p>
          <a:p xmlns:a="http://schemas.openxmlformats.org/drawingml/2006/main">
            <a:pPr algn="l">
              <a:defRPr sz="27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POSTERGAR</a:t>
            </a:r>
          </a:p>
          <a:p xmlns:a="http://schemas.openxmlformats.org/drawingml/2006/main">
            <a:pPr algn="l">
              <a:defRPr sz="27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NO-BID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C8172-7C6E-4C26-81B5-7A40D647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B079A-971E-467C-914F-5F653E2B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09F228-4555-470C-B54A-0DB2E131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5B"/>
          </a:solidFill>
          <a:ln xmlns:a="http://schemas.openxmlformats.org/drawingml/2006/main" w="9525">
            <a:solidFill>
              <a:srgbClr val="2F8A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BDFBE-BA2D-44CC-8491-2B194031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766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8F8EA9-13B3-4F8E-9329-5639D894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290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9525">
            <a:solidFill>
              <a:srgbClr val="C986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29DFA0-30C5-4C89-9EAC-D3C9442C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766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T'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4A5F4-55F5-47E0-B747-DB59E299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El IP ordena proyectos elegibles; no reemplaza la decision BID/NO-BID.</a:t>
            </a:r>
          </a:p>
        </p:txBody>
      </p:sp>
    </p:spTree>
    <p:extLst>
      <p:ext uri="{BB962C8B-B14F-4D97-AF65-F5344CB8AC3E}">
        <p14:creationId xmlns:p14="http://schemas.microsoft.com/office/powerpoint/2010/main" val="17722957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B6FA6D-C619-4F7D-A5D8-B3FA63EF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DAE1E534-6A02-4027-8599-B6EBD4B0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828C5D54-13BF-4816-8424-12DE9E30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FLUJO DE CALCULO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1ED19-ED44-4DD9-AC01-A4D2A3EE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D01E-93BE-4FE4-AA78-705F0FFA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La herramienta transforma entradas del proyecto en decision y prioridad.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27854-AEFD-4898-ABEF-EE521DF4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E91A5-14AD-4102-BF08-D3C7D550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INPUT_PROYECTO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C2F72-035F-4A99-A63C-C0E0AF6B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Datos economicos, margen, horas y saturacion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7AA05-BBE9-43DC-8FFD-F5ABB64B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71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0AA7C-3EA6-4854-8EC3-38418C31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24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1D1A9-4EFB-41C5-8E51-6C3B31B7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5275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275D8-49B1-47F4-9AD7-6DDDE71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24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CT_CHECKLIST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30DCD-0957-471C-A0E8-182906D6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718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Criterios tecnicos con checkboxes vinculados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1D4EF-008C-4C69-B635-E30B72FC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71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C14D7-58E3-464B-A33C-982D2B02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324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18FDB-E6AB-41AA-AD7B-0505EB42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5275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EB0C3-2875-4D61-88B2-33D27304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24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CT_CALCULO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C21A7-6BAA-4DA2-A55F-067EC2F3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Score normalizado, pesos y CT continuo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FDB82-18E7-448B-8C6C-46EFB88D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71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DC73C9-C8CA-4418-A344-FF0F296D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24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E5C7E-DE52-407B-B1E5-E0D256F8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5275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B9574-C6E2-44C8-81D1-70E31938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24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PROBABILIDAD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4A974-04CC-4F4C-8507-FDDD304F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3718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P = relacion cliente x competencia x experiencia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5C3B8-D2F3-4CD5-A115-769C2BF7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71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03151-C88F-457C-86B8-82663560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24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D44BFF-9F49-4916-B2B6-B7E20157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D7460-D9D1-4C35-B0E8-5B77C8B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24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CALCULO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1FD39-DE99-479B-A9E3-BA91E475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718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8D0D6"/>
                </a:solidFill>
                <a:latin typeface="Aptos"/>
                <a:ea typeface="Aptos"/>
                <a:cs typeface="Aptos"/>
              </a:rPr>
              <a:t>CT, T', P, I, M, F_C, VEC, IP y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3EF511-87D1-466B-A237-EF9492C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Componentes calculados automaticamente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F5B92-D09D-4ECC-9D13-FB9373A5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90BC9-A0A0-4531-81F9-314F9C91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Puntaje por bloque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2FFD23-F2CA-469A-9B38-86563CC4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337AC-74D4-4146-9775-881A3F0A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91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CT continuo 0-100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EB33CF-3596-416A-B85F-2A09AA9B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6977F2-57A5-4D74-8DC4-A3CCE966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91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CT discreto 1-5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0400A1-2DC7-4E8D-B99A-26F54225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58BAB5-BBD3-451D-A068-959212BE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91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T' por referencia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B8A4FE-A0F5-4BEE-AC71-589135AE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88C567-54F2-42EA-B888-F0007D15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VEC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2E1FC4-1A83-462A-9493-88BEA745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448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4CF307-8E0C-48E5-849C-75920415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10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IP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ED775B-C3E8-4750-90E6-D7ED07C6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448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BB0B09-BBC3-495A-A92B-A840AB01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10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BID / POSTERGAR / NO-BID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E17499-BDD3-438D-9C67-8A4E78F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4EA1B5-2F05-4D7B-9EF0-ABBCC40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Modelo CT-VEC-IP para evaluacion de cotizaciones | fuente: Especificacion_ADP.md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BA76B6-6B60-443E-A671-EA79BAAE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56327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62655A-D2A5-4C19-B6DB-4B7F8722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109F8C04-FCDE-479C-8A2D-68F8381F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5BD221C-9DCA-4C6E-9E68-1B42D962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COMPLEJIDAD TECNICA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B9D0E-E266-497A-B4E6-035A2CDE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7887D-F188-4042-9544-6EDC63CC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CT pondera ocho bloques; urgencia y alcance cargan casi la mitad del modelo.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AE0F0-029E-497C-90D0-F495407C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H Urgencia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5FC5E-73ED-4804-81AA-73EFB1BD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4DF66-9D93-4D77-9D9A-248DFA27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2DFC6-2DAD-42DB-A6A0-8C2CFDA7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7BE84-4C81-4BDC-8E12-B256394F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base exclusiva + incrementales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DB2E9-C658-4338-B15F-186BDDB6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 Alcance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6F13D-F75A-4020-A1CB-A32780B6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14563-DFB8-43E0-9F86-160EC7D2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9FC01-4E6A-4982-B6B2-A58D1BDE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05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A5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22464-FA68-4D7A-8EC1-AF496EB9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base exclusiva + AA8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62F21-F065-4A70-8D06-6DDF741E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D Categorias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08FBA-98A5-4034-942E-06AB07B5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BA4B3-C236-4A99-A817-4595A21E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1885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8A050-7836-4215-A8BE-C2B77F8A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86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86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862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1BC1B-476F-4500-9FBC-971710C4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objetos + cantidades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318B9-9406-48E9-94C1-4F798986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G Experiencia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D9690-FC03-4170-8480-C4376CC8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A21AC-4640-4F3F-98B6-4E6E20AD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5087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F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8B8D8-AD92-4F64-B315-8DCA3550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67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5F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5F9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C12B5D-45F0-4729-BE5B-EBE21A39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referencias e informacion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A6F62-DF74-4A92-B0E7-02801776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E Subcontratos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A7443-5E2E-4866-90D2-EEC8C68E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957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67900-31E2-4B83-A77A-48AF25A1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95700"/>
            <a:ext cx="1257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C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E2F35-D076-486F-A8AA-9E03AED4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48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E9C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E9C9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219BC-4DCA-4ED0-A536-79438BC0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externos y volatilidad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68BA8-111B-4D2A-B2C0-284DD347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A Disciplinas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CDED97-5DE1-4140-B88D-6D22DC09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E4D4D4-F5D5-44F4-92C3-34DA9C6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100584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B9120D-3A7D-42FD-9BDA-17710E9C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29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4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4A4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3EF16D-0544-4379-BA32-E5E77716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acumulativo + interaccion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DA4757-6D6C-4B31-A831-6C77A946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 Ingenieria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16BE84-843C-49CC-AD04-83862909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D4B9F4-0101-4E97-A297-BC1BBB6C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88011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4387C9-AE10-4301-B9B9-564B321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0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7B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7B8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4529E8-D2C6-4AAB-B709-2BE76DEC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AF34 incremental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23BB45-C133-4868-A24F-8EF3FD3E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F Permisos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9D4966-0391-439F-9A6E-1769FE94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1E4046-7E3F-4FBE-AFE4-B121B65F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37719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A52775-05FD-4E9A-8770-B243781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7A6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7A6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3017A2-96A4-447F-BA49-A6396288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006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normativa base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7C4A5B-94EE-4030-8B9E-534CE937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143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ED02FE-A53A-4352-958C-A67975ED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6"/>
                </a:solidFill>
                <a:latin typeface="Aptos"/>
                <a:ea typeface="Aptos"/>
                <a:cs typeface="Aptos"/>
              </a:rPr>
              <a:t>Ecuacion CT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514BEC-6D9D-426C-A552-D4072F2E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2419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8F1E7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F8F1E7"/>
                </a:solidFill>
                <a:latin typeface="Consolas"/>
                <a:ea typeface="Consolas"/>
                <a:cs typeface="Consolas"/>
              </a:rPr>
              <a:t>Score_bloque = puntaje_obtenido / maximo_bloque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F8F1E7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F8F1E7"/>
                </a:solidFill>
                <a:latin typeface="Consolas"/>
                <a:ea typeface="Consolas"/>
                <a:cs typeface="Consolas"/>
              </a:rPr>
              <a:t>Aporte_bloque = Score_bloque x Peso_bloque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F8F1E7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F8F1E7"/>
                </a:solidFill>
                <a:latin typeface="Consolas"/>
                <a:ea typeface="Consolas"/>
                <a:cs typeface="Consolas"/>
              </a:rPr>
              <a:t>CT continuo = SUMA(aportes)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F8F1E7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F8F1E7"/>
                </a:solidFill>
                <a:latin typeface="Consolas"/>
                <a:ea typeface="Consolas"/>
                <a:cs typeface="Consolas"/>
              </a:rPr>
              <a:t>CT discreto = 1..5 segun tramos de 20 puntos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7AAAE5-FB27-456B-8194-EFE832FD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D0D6"/>
                </a:solidFill>
                <a:latin typeface="Aptos"/>
                <a:ea typeface="Aptos"/>
                <a:cs typeface="Aptos"/>
              </a:rPr>
              <a:t>Regla critica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DE3087-97ED-4EDE-BFF6-23209414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8C0C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B8C0C8"/>
                </a:solidFill>
                <a:latin typeface="Aptos"/>
                <a:ea typeface="Aptos"/>
                <a:cs typeface="Aptos"/>
              </a:rPr>
              <a:t>Las celdas VERDADERO/FALSO no se multiplican directamente; cada criterio usa SI(celda=VERDADERO; puntaje; 0).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4F8EEE-9173-4064-A8BD-639FFCC6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8B6921-D40D-42E3-909F-6820139D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Modelo CT-VEC-IP para evaluacion de cotizaciones | fuente: Especificacion_ADP.md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C945B2-1A87-498E-95CE-7F1A2E40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22526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21D1F3-D64B-4DA1-882C-66223720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292C0F24-B9AE-49E7-BCE9-5282A6DE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E60BC632-E1FC-49FD-A5FB-92CB0451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CRITERIOS 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E4691-08A8-46D4-8540-C15890A3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611A1-35F0-45F3-9D4F-596D96DE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Los criterios combinan bases exclusivas con incrementales acumulativos.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368B2-9A0F-4AF7-9935-CAF01871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8765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2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2EC7A-C199-433B-9408-50019771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Base exclusiva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0BFDF-9DC2-4A6C-93B0-3E107136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H, B, D, G, E, C, 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4CD62-F116-4D74-B7D3-1F7D57D6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La seleccion base se resuelve con MAX(...); una opcion debe dominar.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718BD-BFC7-4568-BF15-EE15E5F3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28765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5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46F3A-3051-47E8-9B98-DAF46FCD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Incremental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1B52D-96B5-4085-95E2-2DA89CB5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86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862D"/>
                </a:solidFill>
                <a:latin typeface="Aptos"/>
                <a:ea typeface="Aptos"/>
                <a:cs typeface="Aptos"/>
              </a:rPr>
              <a:t>Z8:Z10, AA8, AB18, AC18, AD25:AD26, AF34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91AD4-6088-44D9-8F56-8C54F17E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Se suma al puntaje base cuando agrega esfuerzo o riesgo.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33C5E-662F-45D0-AD37-A1F9510D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66950"/>
            <a:ext cx="28765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3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2CF23-E3E5-4DA3-9C45-F74682BA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Acumulativo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62DBC-A3B7-4D23-8BD2-E720C92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908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5F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5F90"/>
                </a:solidFill>
                <a:latin typeface="Aptos"/>
                <a:ea typeface="Aptos"/>
                <a:cs typeface="Aptos"/>
              </a:rPr>
              <a:t>Bloque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A6F71-4B41-4821-8A5D-82AEE773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Las disciplinas se acumulan y la interaccion se calcula automaticamente.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D5253-5A9E-449C-A315-A8797ABC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Interaccion entre disciplinas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77D7B-702D-47CA-9648-95D6A3D8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196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1C0ED-2862-412B-ADEE-EDBEAD6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958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0-1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04AB9-8476-4245-8B82-F7CD5E03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7DFC5-18BE-452B-B714-0979E7C5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196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5DAC7-3F90-44A7-973E-96903697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CD1DA-E1C0-4064-81AC-AD28A08A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482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6A601-5C2F-4078-BF71-6DEE8E8E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196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E3CE6-92AA-4E25-8833-DCB550F0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958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3C18FA-AD87-4E27-80FD-DE2B6347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482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6D3A4B-869C-42FA-ADF2-E52F42D4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96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D9F5F-7322-4169-B9A2-06DF178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958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EC11C-6054-4A02-B9E6-295CDD2B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0BFAB-09F4-4833-8726-8E86989D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8C83CF-9E87-4936-AC8D-65759558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958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7047C1-25F9-4D42-B8FF-EDDC88E6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7F99BF-9A42-48DA-A4CF-D716A644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54A4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54A43"/>
                </a:solidFill>
                <a:latin typeface="Aptos"/>
                <a:ea typeface="Aptos"/>
                <a:cs typeface="Aptos"/>
              </a:rPr>
              <a:t>No debe existir checkbox manual para la interaccion.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8CEAA2-A6D8-48B7-8166-2B6B91FF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CE39DB-7BA6-48AA-901C-A9DC27A4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Modelo CT-VEC-IP para evaluacion de cotizaciones | fuente: Especificacion_ADP.md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AF08A1-C7F6-42EC-AFE8-6C4E99FB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04695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9DECAE-2F6E-4171-91E5-9D25D082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FA37FAD2-AF37-485F-AFDD-57A128D9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50A74998-1C98-4374-A0BF-560F6328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VALOR ESPERADO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D4215-76E6-44C6-8315-2F1FEDAA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07788-D993-4922-B633-82C5B4E1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VEC estima conveniencia; IP convierte esa conveniencia en orden de atencion.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4F15F-56C0-4C2A-A86E-0F670F5A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2"/>
          </a:solidFill>
          <a:ln xmlns:a="http://schemas.openxmlformats.org/drawingml/2006/main" w="9525">
            <a:solidFill>
              <a:srgbClr val="B8CC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6EA9C-417C-44DC-B21D-8A4F4898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2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202A"/>
                </a:solidFill>
                <a:latin typeface="Consolas"/>
                <a:ea typeface="Consolas"/>
                <a:cs typeface="Consolas"/>
              </a:rPr>
              <a:t>P = R x C x 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904FD-CA82-4DF3-89DD-D5C6090A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5"/>
          </a:solidFill>
          <a:ln xmlns:a="http://schemas.openxmlformats.org/drawingml/2006/main" w="9525">
            <a:solidFill>
              <a:srgbClr val="DFC3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F5FC9-D25F-4A18-8871-7D5D49C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202A"/>
                </a:solidFill>
                <a:latin typeface="Consolas"/>
                <a:ea typeface="Consolas"/>
                <a:cs typeface="Consolas"/>
              </a:rPr>
              <a:t>I = MIN(monto / monto_maximo, 1)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9DECF-F132-4AC9-96EC-6E5008EB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04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3"/>
          </a:solidFill>
          <a:ln xmlns:a="http://schemas.openxmlformats.org/drawingml/2006/main" w="9525">
            <a:solidFill>
              <a:srgbClr val="CFC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D4F1F-0CDA-4B1A-A340-41AADAE8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202A"/>
                </a:solidFill>
                <a:latin typeface="Consolas"/>
                <a:ea typeface="Consolas"/>
                <a:cs typeface="Consolas"/>
              </a:rPr>
              <a:t>M = margen_esperado / margen_objetivo</a:t>
            </a:r>
          </a:p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202A"/>
                </a:solidFill>
                <a:latin typeface="Consolas"/>
                <a:ea typeface="Consolas"/>
                <a:cs typeface="Consolas"/>
              </a:rPr>
              <a:t>    o factor por CT si falta margen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66ACA-9E95-4008-8B72-17A9FD73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533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7BA41-006C-498C-BEE2-40252715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202A"/>
                </a:solidFill>
                <a:latin typeface="Consolas"/>
                <a:ea typeface="Consolas"/>
                <a:cs typeface="Consolas"/>
              </a:rPr>
              <a:t>F_C = EXP(-alpha x horas_estimadas / horas_disponibles)</a:t>
            </a:r>
          </a:p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202A"/>
                </a:solidFill>
                <a:latin typeface="Consolas"/>
                <a:ea typeface="Consolas"/>
                <a:cs typeface="Consolas"/>
              </a:rPr>
              <a:t>      o factor por saturacion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F359A-0B02-4DFF-AD44-9648931C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385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FFCC1-23EA-4F71-9475-A3A76E16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9095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1E7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8F1E7"/>
                </a:solidFill>
                <a:latin typeface="Consolas"/>
                <a:ea typeface="Consolas"/>
                <a:cs typeface="Consolas"/>
              </a:rPr>
              <a:t>VEC = P x I x M x F_C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1E5DD-3C13-485A-9CE8-CAA8DD5B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3ADA7-5723-4D12-BD13-2B417F40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90950"/>
            <a:ext cx="2114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2A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6202A"/>
                </a:solidFill>
                <a:latin typeface="Consolas"/>
                <a:ea typeface="Consolas"/>
                <a:cs typeface="Consolas"/>
              </a:rPr>
              <a:t>IP = VEC / T'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4DDC6-9FDA-410A-BC5C-E8AB360A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Interpretacion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C05F0-2ECF-4F7B-9E7C-842B7740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43500"/>
            <a:ext cx="752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VEC decide con umbrales BID/POSTERGAR/NO-BID; IP prioriza oportunidades elegibles segun el tiempo objetivo T'.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39634-7E55-42FC-804E-0DAEE56B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038D9-FBCD-473B-B050-24A43E34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Modelo CT-VEC-IP para evaluacion de cotizaciones | fuente: Especificacion_ADP.md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BC97A-7106-467E-ADE0-2A743620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47597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9FCDDF-8967-4F20-B9E4-7E7CA6A7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032097B-2AB3-4132-BF28-1BFDA623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816E2CA4-DB03-4239-BE95-ADC9E93D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MATRIZ DE GOBIERNO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479D5-6C1E-4257-A3E8-E34913A4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30158-D18A-4A15-99E3-91905C65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La matriz CT x VEC bloquea decisiones incoherentes aunque el VEC sea atractivo.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C60CF-2405-4AAD-A65F-B37B14B9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764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71FC9-26DB-415B-88B0-B813E97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621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Bajo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&lt; 0,08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E753E-E1C5-4FD4-BD45-16554AB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ACE60-1238-4531-B837-6E613179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621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Medio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0,08-0,20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B3D36-ACA4-4852-A7CD-76121A29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6744A-170F-4693-8ECD-B1267B62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621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Alto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&gt;= 0,20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04C83-64CA-44F2-B855-43BC884E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EB84A-EECF-4463-B76A-47F739A0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CT 1-2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F787B-CA2F-4BB9-890D-734E4D3B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D1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B3569-75CB-47C5-BB8F-CBD32D1D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86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862D"/>
                </a:solidFill>
                <a:latin typeface="Aptos"/>
                <a:ea typeface="Aptos"/>
                <a:cs typeface="Aptos"/>
              </a:rPr>
              <a:t>POSTERGAR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44B97-07DC-442B-B23E-A1F76C8D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FAF5A-D6F9-4FCE-BD53-716130CE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A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8A5B"/>
                </a:solidFill>
                <a:latin typeface="Aptos"/>
                <a:ea typeface="Aptos"/>
                <a:cs typeface="Aptos"/>
              </a:rPr>
              <a:t>BID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A1668-1193-4995-AE19-9B70B152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144BF-6D3A-4269-A022-6C89B8A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A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8A5B"/>
                </a:solidFill>
                <a:latin typeface="Aptos"/>
                <a:ea typeface="Aptos"/>
                <a:cs typeface="Aptos"/>
              </a:rPr>
              <a:t>BID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B388C-A779-4E85-A057-F5DC5849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B0A51-158E-425F-8308-7C8772B8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80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CT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FD3BB-9934-484B-A71B-204677A3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AD6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AEF4C-7BF8-42E3-A462-E75BDE0F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4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4A43"/>
                </a:solidFill>
                <a:latin typeface="Aptos"/>
                <a:ea typeface="Aptos"/>
                <a:cs typeface="Aptos"/>
              </a:rPr>
              <a:t>NO-BID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89C41-ACFF-4E23-A2FB-B02D2F6F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194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D1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E9743-0A01-4BEF-B803-286335AD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86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862D"/>
                </a:solidFill>
                <a:latin typeface="Aptos"/>
                <a:ea typeface="Aptos"/>
                <a:cs typeface="Aptos"/>
              </a:rPr>
              <a:t>POSTERGAR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82AFDE-B2F1-4AFC-AED4-DFA03976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B40B3-1803-4739-A135-98763206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A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8A5B"/>
                </a:solidFill>
                <a:latin typeface="Aptos"/>
                <a:ea typeface="Aptos"/>
                <a:cs typeface="Aptos"/>
              </a:rPr>
              <a:t>BID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C086F8-1D50-41E4-B52E-F1814ED6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04CFD-D94B-43EF-8DB4-B68EE67B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CT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9B5DD-36C5-4436-868E-4C7D853B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862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AD6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089F3-DAED-4550-ADCB-871935C6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4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4A43"/>
                </a:solidFill>
                <a:latin typeface="Aptos"/>
                <a:ea typeface="Aptos"/>
                <a:cs typeface="Aptos"/>
              </a:rPr>
              <a:t>NO-BID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21CC4B-AACB-4D2A-9430-7A976BB0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AD6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118EC6-556A-4131-B5BC-34BAAD25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4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4A43"/>
                </a:solidFill>
                <a:latin typeface="Aptos"/>
                <a:ea typeface="Aptos"/>
                <a:cs typeface="Aptos"/>
              </a:rPr>
              <a:t>NO-BID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F53D50-3AF9-420C-943A-DDE33E0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D1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08D77A-BD23-4D2B-9A84-E94DE5EC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86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862D"/>
                </a:solidFill>
                <a:latin typeface="Aptos"/>
                <a:ea typeface="Aptos"/>
                <a:cs typeface="Aptos"/>
              </a:rPr>
              <a:t>POSTERGAR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6046DB-60CC-471D-8290-BE791664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CDDB82-D115-4F8B-8C53-52B950BF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81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CT 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3B4535-BF6A-46E0-8C41-99556791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529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AD6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6E8C90-7E99-466E-A426-3F0B8FAF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2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4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4A43"/>
                </a:solidFill>
                <a:latin typeface="Aptos"/>
                <a:ea typeface="Aptos"/>
                <a:cs typeface="Aptos"/>
              </a:rPr>
              <a:t>NO-BID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FFB5DC-181C-4335-98DE-825AA704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529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AD6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63263B-BA8E-41D4-9A8F-D58933C7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4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4A43"/>
                </a:solidFill>
                <a:latin typeface="Aptos"/>
                <a:ea typeface="Aptos"/>
                <a:cs typeface="Aptos"/>
              </a:rPr>
              <a:t>NO-BID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E62E34-ABDB-4B8E-9834-08388EBC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AD6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482DC4-A320-41D0-9F45-AF6C8E60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4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4A43"/>
                </a:solidFill>
                <a:latin typeface="Aptos"/>
                <a:ea typeface="Aptos"/>
                <a:cs typeface="Aptos"/>
              </a:rPr>
              <a:t>NO-BID /</a:t>
            </a:r>
          </a:p>
          <a:p xmlns:a="http://schemas.openxmlformats.org/drawingml/2006/main">
            <a:pPr algn="ctr">
              <a:defRPr sz="975" b="1">
                <a:solidFill>
                  <a:srgbClr val="B54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4A43"/>
                </a:solidFill>
                <a:latin typeface="Aptos"/>
                <a:ea typeface="Aptos"/>
                <a:cs typeface="Aptos"/>
              </a:rPr>
              <a:t>REVISION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022CD6-B575-45BF-A46E-6A5BDD8C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530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7D1A08-D53C-41CD-9E97-32DCCCFE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006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Regla de coherencia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F13F99-A375-4FEA-A727-2A1E7578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340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Si VEC indica BID pero la matriz bloquea, se requiere revision estrategica obligatoria. Si VEC = NO-BID, se descarta la oportunidad.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3C63EB-23CD-41C1-B91B-ADD7A7D7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F1601E-CFF4-4DE0-9C90-CF5171F5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Modelo CT-VEC-IP para evaluacion de cotizaciones | fuente: Especificacion_ADP.md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C04525-69AA-4E6D-8A9A-72E16ACB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74414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70383D-5105-4738-B012-2FFCFA64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6873E3A9-AE2C-448D-A1BE-122D7C5F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77D2B75A-9619-4700-B48F-68809BEF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PARAMETROS Y REFERENCIAS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95258-0F40-4878-A389-7BE722B0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0B3B0-570D-463B-A881-3A19CB0D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Los parametros editables hacen que el modelo sea calibrable sin tocar formulas.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E6E64-FEF1-4469-9A50-5CDB7722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E6B86-EE4D-43FC-A30F-5636A167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Alpha / sensibilidad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B58E1-D95E-4183-A1F5-F55F2968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574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95806-050C-46D0-8934-974588EC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526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8E517-EFAD-4642-9487-85692DC4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Umbral BID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42824-D209-4EF7-B97C-452E90F4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574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0,20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ACFF7-11DC-462C-AA3B-3A54049D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5507E-6087-4D6D-A929-983D920B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Umbral POSTERGAR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8BEBD-67C8-4169-9A36-F90804FE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860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0,08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37A43-3F5F-4520-96E2-745CD501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8130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4D3C5-1E42-4BB1-B4AA-5CBEAFD2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Monto maximo historico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18DFB-A678-4A83-9857-0A77AA36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860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2.000.000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29C51-4F38-4C2A-BE55-9D9938CC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4EF5C-2DE4-444C-B5E3-3E76370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Horas disponibles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DC42F-0A89-4579-AFFD-4BC25459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147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30FAE-3833-4294-940C-7FE8E04D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099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8BC5D-D5F7-4412-BDD0-22E5E3D5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43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Cap maximo de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50A85-EB06-4002-97F8-EC8D439E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147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1,30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B74A9-E5A3-43ED-A126-02E6899B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Tabla CT -&gt; T'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22D26-D72C-4F57-976D-EFD3E55F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9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25C76-73DC-4698-91F6-66E7E193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862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FF0B2-9692-40CF-BF64-7D12EC56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19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06007-C899-4B15-9071-EC6391BC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862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Horas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0718E6-9E5E-46E1-920A-0AB83129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19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B1E8A7-8C6D-4442-BF35-65888AA4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862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Horas max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7F1484-4B97-4999-8746-2B418828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19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1AFBC0-A74B-45B2-A721-8F55C486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862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T'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9E4BF1-B3FC-4048-9166-C6FBE7ED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CA57E-6116-43CA-9296-E96156B2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529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E9A7C7-4EAD-43DB-8C08-5F1951E2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E537A2-D1EC-4955-A020-D6F337DB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529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D64AD6-D55A-4DDE-9EA9-962A57B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863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D2916-D925-45DD-BA62-B4884649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529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A9DA80-AB93-40D3-8E5C-F5829A8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863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CCA97C-46A9-4046-B6E5-66B9F124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529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D0121F-9E01-484B-98B8-6FA0CC2A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530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5CCC94-AD98-40BA-88A2-A7899371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96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F45812-28B6-4EEB-BC7E-D2446BE2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530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4E484A-E605-4F5A-AA78-65152283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196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BA00D3-5F3D-4791-B4F0-59B519C8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530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0AACC8-BBB9-451E-A8C2-7B46451F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196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E1E0A9-1EC8-443F-B780-445D9D1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530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7D537C-32E8-4248-9A5A-CE79DD14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196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4C9875-FF69-4D6E-A121-364FFF1B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20FBF7-0FE0-47A2-94FF-473FD617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86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BBC9EB-26EB-4034-9DF5-9B18666C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19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F62563-E631-46AE-A12A-FE143F82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86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631612-CE16-42E4-B9F5-610DFCF7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19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8C6CB2-84FD-404C-A28C-D1C20FC9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86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4598BE-50A2-458E-A6FB-D4CBC760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19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8921F9-0609-4C47-92AE-753FE2F4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86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DA41D5-1A67-4FD1-982B-6E9A3D6A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86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E35A1B-E8E8-4DD1-9747-0153F0F9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530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0D6ABF-5A0A-4A18-9B84-63617FCB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86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B3F8CD-57EF-4A71-B696-0E242A7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530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280539-5D78-407D-8D79-6FECC71E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86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8F44EF-7A7F-46A0-9222-AA78D2A6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530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95DEB9-8F07-4FEC-8603-86654C37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86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31CAB3-237D-44CC-9C01-F3877B9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530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D95044-7B31-40F8-B881-0F22F723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531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03AB614-8A33-40BA-AF29-2E30668F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197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2F61F1-A58B-4749-BC9B-F397E472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531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BE61AD-6048-4212-B6E1-8135E126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8197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43CCCB-D004-4E5A-A0B1-E8650FD2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87CBF4C-2B7A-44DD-AC6C-4AADC3D5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97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0C6BE5-AF26-4AFB-800F-AF8F2FD5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7531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AECCA4-E2A0-45F9-A38F-F4F5D5B9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8197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EA4F6F-780F-4CC3-97BB-C156BD08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72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54A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54A43"/>
                </a:solidFill>
                <a:latin typeface="Aptos"/>
                <a:ea typeface="Aptos"/>
                <a:cs typeface="Aptos"/>
              </a:rPr>
              <a:t>CT 5 usa T' = (64 + 120) / 2 = 92.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7FF77A-51F9-4266-9901-B69DC940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9B78F5-3F28-4D85-BB7E-A3697985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Modelo CT-VEC-IP para evaluacion de cotizaciones | fuente: Especificacion_ADP.md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77764F-EC8D-42B8-88A2-038AE616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96351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F25D78-6668-4FB6-BC89-EF424EBD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ECE8C189-0857-4EF4-A78F-A284D1D8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221FB41D-5903-4514-BA7A-6264A265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CASO DE VALIDACION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0DBC2-C97F-4CB4-9C3F-A5941D89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B8B85-50EC-4547-89F6-D51E7063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El caso de prueba debe cerrar en CT 3, VEC alto, decision BID.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286B6-2B91-49C3-8602-0FCE96E9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EDEE3-80DE-4AB2-8B5B-A18008FA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CT continuo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5793E-9092-40B9-8AED-AB5040DF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52,48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4ED74-9AC5-451A-B9D0-99EF3A07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526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C806C-05EB-441B-B284-942A1F13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69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CT discreto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485CA-8C19-448B-AE31-2A5070BE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193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CFE3B-2787-4304-B3B2-C7A543A4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526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F754F-DAB2-4B61-8820-8D5F4DFB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669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T'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58EBB-900F-447D-AFE0-BB71BE42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193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31FE1-4822-40A0-B031-7C126C99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EA889-80A4-4AF5-BC45-4AE039EE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E97A4-5853-42E7-9B71-9A043D93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0,51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66F9C-87D6-4E6D-87FC-3D6DB6EE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670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BD015-ECE6-46E3-8EB4-6CF91E22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813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9150A-B08E-4C88-96B0-3DE9391D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337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0,55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1B98C-4771-4F4C-BB53-86C706B9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670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7F3DF-3233-41E1-AEB0-B2D55A1F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813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E7BA70-DC67-4461-8B6E-1A8FB33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337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0,9333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EAA64-0C8B-4871-86A9-6D11F97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DA046F-12E6-4C66-B9BE-485E1E65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F_C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B1877-2C60-473C-8B17-31F6347F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0,8290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DE1895-6DC4-43C9-ABB7-FE0E88E0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814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5B"/>
          </a:solidFill>
          <a:ln xmlns:a="http://schemas.openxmlformats.org/drawingml/2006/main" w="9525">
            <a:solidFill>
              <a:srgbClr val="2F8A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1C504-F4C0-46EC-AF6C-BA0F1FBA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957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DEDE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DEDE4"/>
                </a:solidFill>
                <a:latin typeface="Aptos"/>
                <a:ea typeface="Aptos"/>
                <a:cs typeface="Aptos"/>
              </a:rPr>
              <a:t>VEC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B3B87-2105-4547-8DEC-0B3FBC32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481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0,2170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9B212A-4CC5-4011-98C9-8FD79587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9738FD-70AC-442E-AABB-ACB492CB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957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17D"/>
                </a:solidFill>
                <a:latin typeface="Aptos"/>
                <a:ea typeface="Aptos"/>
                <a:cs typeface="Aptos"/>
              </a:rPr>
              <a:t>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B345C0-DF17-451B-BA40-AD6F9189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481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2A"/>
                </a:solidFill>
                <a:latin typeface="Georgia"/>
                <a:ea typeface="Georgia"/>
                <a:cs typeface="Georgia"/>
              </a:rPr>
              <a:t>0,0090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7FBD0D-BD28-4B27-8C99-4BA27A56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400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659686-2E62-4065-9DF4-2763B1A4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C0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C0C8"/>
                </a:solidFill>
                <a:latin typeface="Aptos"/>
                <a:ea typeface="Aptos"/>
                <a:cs typeface="Aptos"/>
              </a:rPr>
              <a:t>Decision esperada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B30518-9DC7-4E91-8A87-283D6579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4BFF21-19F2-460F-9100-FFD36987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6"/>
                </a:solidFill>
                <a:latin typeface="Aptos"/>
                <a:ea typeface="Aptos"/>
                <a:cs typeface="Aptos"/>
              </a:rPr>
              <a:t>Matriz CT x VEC: CT = 3 y VEC alto =&gt; BID. Conflicto = No.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BD9BDE-4D48-41C3-90BD-25426FE9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Validaciones clave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92C9F7-1E5E-4924-90BD-C3A683BC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197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Preservar formulas en espanol, macros en modulo estandar, checkboxes de Control de formulario y formato condicional por texto.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00E672-A6DD-46F7-960E-BD94C6A6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C40247-9164-44FC-8B80-3936C502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Modelo CT-VEC-IP para evaluacion de cotizaciones | fuente: Especificacion_ADP.md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64B43D-1C0D-450B-B1EE-00A7AA62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3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371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050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2026-05-08T04:46:23.5660000Z</dcterms:created>
  <dcterms:modified xsi:type="dcterms:W3CDTF">2026-05-08T04:46:23.5660000Z</dcterms:modified>
</coreProperties>
</file>